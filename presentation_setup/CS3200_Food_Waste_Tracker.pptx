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Eunice (~45 seconds)</a:t>
            </a:r>
          </a:p>
          <a:p/>
          <a:p>
            <a:r>
              <a:t>1.3 billion tons of food gets wasted globally every year. Your household alone probably throws out about $1,500 worth. But if you asked most people what they waste the most or why, they couldn't tell you.</a:t>
            </a:r>
          </a:p>
          <a:p/>
          <a:p>
            <a:r>
              <a:t>Hey everyone, we're Group 18. Our project is a Food Waste Tracker. You can see our full poster here. I'll start with the motivation, then we'll walk through the database design, a demo of the app, and our findings.</a:t>
            </a:r>
          </a:p>
          <a:p/>
          <a:p>
            <a:r>
              <a:t>We built a system that lets individuals track what they waste, browse their history, and see analytics on their patterns. Think of it like a budget tracker, but for food you're throwing 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Candy (~1 minute)</a:t>
            </a:r>
          </a:p>
          <a:p/>
          <a:p>
            <a:r>
              <a:t>Here's our ER diagram showing the conceptual design.</a:t>
            </a:r>
          </a:p>
          <a:p/>
          <a:p>
            <a:r>
              <a:t>We have five tables, all in Third Normal Form. At the center is FoodWasteRecords, which connects a User to a FoodItem, a WasteReason, a weight, and a date. FoodItems each belong to a Category, so things like "Banana" are under "Fruit" and "Milk" is under "Dairy."</a:t>
            </a:r>
          </a:p>
          <a:p/>
          <a:p>
            <a:r>
              <a:t>We separated Categories, FoodItems, and WasteReasons into their own tables instead of storing strings directly in the waste records. Without normalization, you'd have the string "Dairy" repeated in every single dairy waste record. If you wanted to rename it, you'd have to update hundreds of rows. With our design, "Dairy" exists in one row in the Categories table, and everything else just references it by ID.</a:t>
            </a:r>
          </a:p>
          <a:p/>
          <a:p>
            <a:r>
              <a:t>The foreign keys enforce referential integrity. For example, you can't log waste for a user or food item that doesn't exist. We also set CASCADE on updates and RESTRICT on deletes to prevent accidental data loss.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Xinyi (~45 seconds)</a:t>
            </a:r>
          </a:p>
          <a:p/>
          <a:p>
            <a:r>
              <a:t>So let me walk you through the app. This is the core screen where you log food waste.</a:t>
            </a:r>
          </a:p>
          <a:p/>
          <a:p>
            <a:r>
              <a:t>You pick your name from the dropdown, select the food item, choose a reason like "Expired" or "Made too much," enter the weight in kilograms, and pick the date. Hit submit and it's recorded.</a:t>
            </a:r>
          </a:p>
          <a:p/>
          <a:p>
            <a:r>
              <a:t>Behind the scenes, this runs an INSERT into FoodWasteRecords. We use parameterized queries throughout the app, meaning user input never gets concatenated into SQL strings directly. That prevents SQL injection attacks. The dropdowns are populated by SELECT queries joining FoodItems with Categories, so you see the food name alongside its category.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Xinyi (~45 seconds)</a:t>
            </a:r>
          </a:p>
          <a:p/>
          <a:p>
            <a:r>
              <a:t>Once you've logged some waste, you can view your full history here. It shows every record with the date, food name, category, reason, and weight.</a:t>
            </a:r>
          </a:p>
          <a:p/>
          <a:p>
            <a:r>
              <a:t>But the real utility is in the filters. You can filter by user, by category, or by date range. So if you want to see just your dairy waste from February, you set those filters and it narrows right down.</a:t>
            </a:r>
          </a:p>
          <a:p/>
          <a:p>
            <a:r>
              <a:t>On the backend, this is a dynamic query that builds WHERE clauses based on which filters you set. It uses JOINs across four tables to pull in all the details: FoodItems, Categories, WasteReasons, and Users.</a:t>
            </a:r>
          </a:p>
          <a:p/>
          <a:p>
            <a:r>
              <a:t>You can also edit a record's weight or delete it entirely right from this view. Those are the UPDATE and DELETE operations.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Eunice (~30 seconds)</a:t>
            </a:r>
          </a:p>
          <a:p/>
          <a:p>
            <a:r>
              <a:t>Before you can log waste, you need an account and food items in the system. Here's the registration page where you enter your name, email, and phone. And here's where you add new food items and assign them to a category.</a:t>
            </a:r>
          </a:p>
          <a:p/>
          <a:p>
            <a:r>
              <a:t>On the Users page you can also update someone's email. So between these screens and the logging and history pages, we have full CRUD coverage: create, read, update, and delete across all our main tables.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Jonathan (~1 minute)</a:t>
            </a:r>
          </a:p>
          <a:p/>
          <a:p>
            <a:r>
              <a:t>This is the analytics dashboard, and it's where everything comes together.</a:t>
            </a:r>
          </a:p>
          <a:p/>
          <a:p>
            <a:r>
              <a:t>Up top we have waste by category as a pie chart. In our seed data, Prepared Food and Grain are the biggest contributors. Next to that is waste by reason as a bar chart. "Made too much" and "Expired" are the top two, which tells you the main behavioral drivers.</a:t>
            </a:r>
          </a:p>
          <a:p/>
          <a:p>
            <a:r>
              <a:t>Below that we have total waste per user and a category breakdown table showing each category's percentage of total waste.</a:t>
            </a:r>
          </a:p>
          <a:p/>
          <a:p>
            <a:r>
              <a:t>The monthly trend chart shows how waste changes over time. And at the bottom we have a leaderboard ranking users from least to most wasteful, plus an average waste per user per month table.</a:t>
            </a:r>
          </a:p>
          <a:p/>
          <a:p>
            <a:r>
              <a:t>All seven of these analytics come from GROUP BY queries with JOINs and aggregate functions. The category percentage uses a subquery to calculate each category's share of total waste. The monthly average uses a derived table to first get each user's monthly total, then averages across users.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Jonathan (continued)</a:t>
            </a:r>
          </a:p>
          <a:p/>
          <a:p>
            <a:r>
              <a:t>In total we wrote 17 SQL queries: 6 CRUD operations for creating, updating, and deleting records across our tables, 4 history and filtering queries with dynamic WHERE clauses, and 7 analytics queries using GROUP BY, JOINs, subqueries, and derived tables.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Candy (~30 seconds)</a:t>
            </a:r>
          </a:p>
          <a:p/>
          <a:p>
            <a:r>
              <a:t>To wrap up: we built a full-stack database application with 5 normalized tables, 17 SQL queries, and a web interface that covers the complete user journey.</a:t>
            </a:r>
          </a:p>
          <a:p/>
          <a:p>
            <a:r>
              <a:t>Our data showed that "Made too much" and "Expired" are the top waste reasons, and Prepared Food is the most wasted category. Those are actionable findings. If you know your biggest waste driver, you can actually change your behavior.</a:t>
            </a:r>
          </a:p>
          <a:p/>
          <a:p>
            <a:r>
              <a:t>Thanks for listening.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10058400" cy="1371600"/>
          </a:xfrm>
          <a:prstGeom prst="rect">
            <a:avLst/>
          </a:prstGeom>
          <a:noFill/>
        </p:spPr>
        <p:txBody>
          <a:bodyPr wrap="square">
            <a:spAutoFit/>
          </a:bodyPr>
          <a:lstStyle/>
          <a:p>
            <a:pPr algn="ctr">
              <a:defRPr sz="5400" b="1">
                <a:solidFill>
                  <a:srgbClr val="FFFFFF"/>
                </a:solidFill>
                <a:latin typeface="Calibri"/>
              </a:defRPr>
            </a:pPr>
            <a:r>
              <a:t>Food Waste Tracker</a:t>
            </a:r>
          </a:p>
        </p:txBody>
      </p:sp>
      <p:sp>
        <p:nvSpPr>
          <p:cNvPr id="3" name="TextBox 2"/>
          <p:cNvSpPr txBox="1"/>
          <p:nvPr/>
        </p:nvSpPr>
        <p:spPr>
          <a:xfrm>
            <a:off x="914400" y="2926080"/>
            <a:ext cx="10058400" cy="731520"/>
          </a:xfrm>
          <a:prstGeom prst="rect">
            <a:avLst/>
          </a:prstGeom>
          <a:noFill/>
        </p:spPr>
        <p:txBody>
          <a:bodyPr wrap="square">
            <a:spAutoFit/>
          </a:bodyPr>
          <a:lstStyle/>
          <a:p>
            <a:pPr algn="ctr">
              <a:defRPr sz="2800" b="0">
                <a:solidFill>
                  <a:srgbClr val="52B788"/>
                </a:solidFill>
                <a:latin typeface="Calibri"/>
              </a:defRPr>
            </a:pPr>
            <a:r>
              <a:t>A Database-Driven Analytics Platform</a:t>
            </a:r>
          </a:p>
        </p:txBody>
      </p:sp>
      <p:sp>
        <p:nvSpPr>
          <p:cNvPr id="4" name="TextBox 3"/>
          <p:cNvSpPr txBox="1"/>
          <p:nvPr/>
        </p:nvSpPr>
        <p:spPr>
          <a:xfrm>
            <a:off x="914400" y="4114800"/>
            <a:ext cx="10058400" cy="548640"/>
          </a:xfrm>
          <a:prstGeom prst="rect">
            <a:avLst/>
          </a:prstGeom>
          <a:noFill/>
        </p:spPr>
        <p:txBody>
          <a:bodyPr wrap="square">
            <a:spAutoFit/>
          </a:bodyPr>
          <a:lstStyle/>
          <a:p>
            <a:pPr algn="ctr">
              <a:defRPr sz="2000" b="0">
                <a:solidFill>
                  <a:srgbClr val="FFFFFF"/>
                </a:solidFill>
                <a:latin typeface="Calibri"/>
              </a:defRPr>
            </a:pPr>
            <a:r>
              <a:t>CS3200 Database Design  |  Group 18</a:t>
            </a:r>
          </a:p>
        </p:txBody>
      </p:sp>
      <p:sp>
        <p:nvSpPr>
          <p:cNvPr id="5" name="TextBox 4"/>
          <p:cNvSpPr txBox="1"/>
          <p:nvPr/>
        </p:nvSpPr>
        <p:spPr>
          <a:xfrm>
            <a:off x="914400" y="4846320"/>
            <a:ext cx="10058400" cy="548640"/>
          </a:xfrm>
          <a:prstGeom prst="rect">
            <a:avLst/>
          </a:prstGeom>
          <a:noFill/>
        </p:spPr>
        <p:txBody>
          <a:bodyPr wrap="square">
            <a:spAutoFit/>
          </a:bodyPr>
          <a:lstStyle/>
          <a:p>
            <a:pPr algn="ctr">
              <a:defRPr sz="1800" b="0">
                <a:solidFill>
                  <a:srgbClr val="52B788"/>
                </a:solidFill>
                <a:latin typeface="Calibri"/>
              </a:defRPr>
            </a:pPr>
            <a:r>
              <a:t>Xinxiang (Eunice)  •  Yanjie (Candy)  •  Xinyi  •  Jonathan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914400"/>
          </a:xfrm>
          <a:prstGeom prst="rect">
            <a:avLst/>
          </a:prstGeom>
          <a:noFill/>
        </p:spPr>
        <p:txBody>
          <a:bodyPr wrap="square">
            <a:spAutoFit/>
          </a:bodyPr>
          <a:lstStyle/>
          <a:p>
            <a:pPr algn="l">
              <a:defRPr sz="1600" b="0">
                <a:solidFill>
                  <a:srgbClr val="52B788"/>
                </a:solidFill>
                <a:latin typeface="Calibri"/>
              </a:defRPr>
            </a:pPr>
            <a:r>
              <a:t>Section 1</a:t>
            </a:r>
          </a:p>
        </p:txBody>
      </p:sp>
      <p:sp>
        <p:nvSpPr>
          <p:cNvPr id="4" name="TextBox 3"/>
          <p:cNvSpPr txBox="1"/>
          <p:nvPr/>
        </p:nvSpPr>
        <p:spPr>
          <a:xfrm>
            <a:off x="731520" y="502920"/>
            <a:ext cx="10058400" cy="731520"/>
          </a:xfrm>
          <a:prstGeom prst="rect">
            <a:avLst/>
          </a:prstGeom>
          <a:noFill/>
        </p:spPr>
        <p:txBody>
          <a:bodyPr wrap="square">
            <a:spAutoFit/>
          </a:bodyPr>
          <a:lstStyle/>
          <a:p>
            <a:pPr algn="l">
              <a:defRPr sz="3600" b="1">
                <a:solidFill>
                  <a:srgbClr val="FFFFFF"/>
                </a:solidFill>
                <a:latin typeface="Calibri"/>
              </a:defRPr>
            </a:pPr>
            <a:r>
              <a:t>Introduction &amp; Motivation</a:t>
            </a:r>
          </a:p>
        </p:txBody>
      </p:sp>
      <p:sp>
        <p:nvSpPr>
          <p:cNvPr id="5" name="TextBox 4"/>
          <p:cNvSpPr txBox="1"/>
          <p:nvPr/>
        </p:nvSpPr>
        <p:spPr>
          <a:xfrm>
            <a:off x="731520" y="1645920"/>
            <a:ext cx="5943600" cy="4114800"/>
          </a:xfrm>
          <a:prstGeom prst="rect">
            <a:avLst/>
          </a:prstGeom>
          <a:noFill/>
        </p:spPr>
        <p:txBody>
          <a:bodyPr wrap="square">
            <a:spAutoFit/>
          </a:bodyPr>
          <a:lstStyle/>
          <a:p>
            <a:pPr>
              <a:spcAft>
                <a:spcPts val="800"/>
              </a:spcAft>
              <a:defRPr sz="2000">
                <a:solidFill>
                  <a:srgbClr val="1B1B1B"/>
                </a:solidFill>
                <a:latin typeface="Calibri"/>
              </a:defRPr>
            </a:pPr>
            <a:r>
              <a:t>•  1.3 billion tons of food wasted globally every year</a:t>
            </a:r>
          </a:p>
          <a:p>
            <a:pPr>
              <a:spcAft>
                <a:spcPts val="800"/>
              </a:spcAft>
              <a:defRPr sz="2000">
                <a:solidFill>
                  <a:srgbClr val="1B1B1B"/>
                </a:solidFill>
                <a:latin typeface="Calibri"/>
              </a:defRPr>
            </a:pPr>
            <a:r>
              <a:t>•  Average household throws out ~$1,500 worth annually</a:t>
            </a:r>
          </a:p>
          <a:p>
            <a:pPr>
              <a:spcAft>
                <a:spcPts val="800"/>
              </a:spcAft>
              <a:defRPr sz="2000">
                <a:solidFill>
                  <a:srgbClr val="1B1B1B"/>
                </a:solidFill>
                <a:latin typeface="Calibri"/>
              </a:defRPr>
            </a:pPr>
            <a:r>
              <a:t>•  Most people can't identify what they waste most or why</a:t>
            </a:r>
          </a:p>
          <a:p>
            <a:pPr>
              <a:spcAft>
                <a:spcPts val="800"/>
              </a:spcAft>
              <a:defRPr sz="2000">
                <a:solidFill>
                  <a:srgbClr val="1B1B1B"/>
                </a:solidFill>
                <a:latin typeface="Calibri"/>
              </a:defRPr>
            </a:pPr>
          </a:p>
          <a:p>
            <a:pPr>
              <a:spcAft>
                <a:spcPts val="800"/>
              </a:spcAft>
              <a:defRPr sz="2000">
                <a:solidFill>
                  <a:srgbClr val="1B1B1B"/>
                </a:solidFill>
                <a:latin typeface="Calibri"/>
              </a:defRPr>
            </a:pPr>
            <a:r>
              <a:t>•  Our solution: a Food Waste Tracker that lets individuals</a:t>
            </a:r>
          </a:p>
          <a:p>
            <a:pPr>
              <a:spcAft>
                <a:spcPts val="800"/>
              </a:spcAft>
              <a:defRPr sz="2000">
                <a:solidFill>
                  <a:srgbClr val="1B1B1B"/>
                </a:solidFill>
                <a:latin typeface="Calibri"/>
              </a:defRPr>
            </a:pPr>
            <a:r>
              <a:t>   log waste, browse history, and see analytics on patterns</a:t>
            </a:r>
          </a:p>
          <a:p>
            <a:pPr>
              <a:spcAft>
                <a:spcPts val="800"/>
              </a:spcAft>
              <a:defRPr sz="2000">
                <a:solidFill>
                  <a:srgbClr val="1B1B1B"/>
                </a:solidFill>
                <a:latin typeface="Calibri"/>
              </a:defRPr>
            </a:pPr>
            <a:r>
              <a:t>•  Think of it like a budget tracker, but for food you throw out</a:t>
            </a:r>
          </a:p>
        </p:txBody>
      </p:sp>
      <p:pic>
        <p:nvPicPr>
          <p:cNvPr id="6" name="Picture 5" descr="01_dashboard.png"/>
          <p:cNvPicPr>
            <a:picLocks noChangeAspect="1"/>
          </p:cNvPicPr>
          <p:nvPr/>
        </p:nvPicPr>
        <p:blipFill>
          <a:blip r:embed="rId2"/>
          <a:stretch>
            <a:fillRect/>
          </a:stretch>
        </p:blipFill>
        <p:spPr>
          <a:xfrm>
            <a:off x="7132320" y="1645920"/>
            <a:ext cx="4389120" cy="687171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914400"/>
          </a:xfrm>
          <a:prstGeom prst="rect">
            <a:avLst/>
          </a:prstGeom>
          <a:noFill/>
        </p:spPr>
        <p:txBody>
          <a:bodyPr wrap="square">
            <a:spAutoFit/>
          </a:bodyPr>
          <a:lstStyle/>
          <a:p>
            <a:pPr algn="l">
              <a:defRPr sz="1600" b="0">
                <a:solidFill>
                  <a:srgbClr val="52B788"/>
                </a:solidFill>
                <a:latin typeface="Calibri"/>
              </a:defRPr>
            </a:pPr>
            <a:r>
              <a:t>Section 2</a:t>
            </a:r>
          </a:p>
        </p:txBody>
      </p:sp>
      <p:sp>
        <p:nvSpPr>
          <p:cNvPr id="4" name="TextBox 3"/>
          <p:cNvSpPr txBox="1"/>
          <p:nvPr/>
        </p:nvSpPr>
        <p:spPr>
          <a:xfrm>
            <a:off x="731520" y="502920"/>
            <a:ext cx="10058400" cy="731520"/>
          </a:xfrm>
          <a:prstGeom prst="rect">
            <a:avLst/>
          </a:prstGeom>
          <a:noFill/>
        </p:spPr>
        <p:txBody>
          <a:bodyPr wrap="square">
            <a:spAutoFit/>
          </a:bodyPr>
          <a:lstStyle/>
          <a:p>
            <a:pPr algn="l">
              <a:defRPr sz="3600" b="1">
                <a:solidFill>
                  <a:srgbClr val="FFFFFF"/>
                </a:solidFill>
                <a:latin typeface="Calibri"/>
              </a:defRPr>
            </a:pPr>
            <a:r>
              <a:t>Database Design</a:t>
            </a:r>
          </a:p>
        </p:txBody>
      </p:sp>
      <p:sp>
        <p:nvSpPr>
          <p:cNvPr id="5" name="TextBox 4"/>
          <p:cNvSpPr txBox="1"/>
          <p:nvPr/>
        </p:nvSpPr>
        <p:spPr>
          <a:xfrm>
            <a:off x="731520" y="1645920"/>
            <a:ext cx="5029200" cy="4389120"/>
          </a:xfrm>
          <a:prstGeom prst="rect">
            <a:avLst/>
          </a:prstGeom>
          <a:noFill/>
        </p:spPr>
        <p:txBody>
          <a:bodyPr wrap="square">
            <a:spAutoFit/>
          </a:bodyPr>
          <a:lstStyle/>
          <a:p>
            <a:pPr>
              <a:spcAft>
                <a:spcPts val="800"/>
              </a:spcAft>
              <a:defRPr sz="1800">
                <a:solidFill>
                  <a:srgbClr val="1B1B1B"/>
                </a:solidFill>
                <a:latin typeface="Calibri"/>
              </a:defRPr>
            </a:pPr>
            <a:r>
              <a:t>•  5 tables, all in Third Normal Form (3NF)</a:t>
            </a:r>
          </a:p>
          <a:p>
            <a:pPr>
              <a:spcAft>
                <a:spcPts val="800"/>
              </a:spcAft>
              <a:defRPr sz="1800">
                <a:solidFill>
                  <a:srgbClr val="1B1B1B"/>
                </a:solidFill>
                <a:latin typeface="Calibri"/>
              </a:defRPr>
            </a:pPr>
            <a:r>
              <a:t>•  FoodWasteRecords at the center — connects</a:t>
            </a:r>
          </a:p>
          <a:p>
            <a:pPr>
              <a:spcAft>
                <a:spcPts val="800"/>
              </a:spcAft>
              <a:defRPr sz="1800">
                <a:solidFill>
                  <a:srgbClr val="1B1B1B"/>
                </a:solidFill>
                <a:latin typeface="Calibri"/>
              </a:defRPr>
            </a:pPr>
            <a:r>
              <a:t>   User → FoodItem → WasteReason + weight + date</a:t>
            </a:r>
          </a:p>
          <a:p>
            <a:pPr>
              <a:spcAft>
                <a:spcPts val="800"/>
              </a:spcAft>
              <a:defRPr sz="1800">
                <a:solidFill>
                  <a:srgbClr val="1B1B1B"/>
                </a:solidFill>
                <a:latin typeface="Calibri"/>
              </a:defRPr>
            </a:pPr>
          </a:p>
          <a:p>
            <a:pPr>
              <a:spcAft>
                <a:spcPts val="800"/>
              </a:spcAft>
              <a:defRPr sz="1800">
                <a:solidFill>
                  <a:srgbClr val="1B1B1B"/>
                </a:solidFill>
                <a:latin typeface="Calibri"/>
              </a:defRPr>
            </a:pPr>
            <a:r>
              <a:t>•  Categories, FoodItems, WasteReasons in separate</a:t>
            </a:r>
          </a:p>
          <a:p>
            <a:pPr>
              <a:spcAft>
                <a:spcPts val="800"/>
              </a:spcAft>
              <a:defRPr sz="1800">
                <a:solidFill>
                  <a:srgbClr val="1B1B1B"/>
                </a:solidFill>
                <a:latin typeface="Calibri"/>
              </a:defRPr>
            </a:pPr>
            <a:r>
              <a:t>   tables to eliminate redundancy</a:t>
            </a:r>
          </a:p>
          <a:p>
            <a:pPr>
              <a:spcAft>
                <a:spcPts val="800"/>
              </a:spcAft>
              <a:defRPr sz="1800">
                <a:solidFill>
                  <a:srgbClr val="1B1B1B"/>
                </a:solidFill>
                <a:latin typeface="Calibri"/>
              </a:defRPr>
            </a:pPr>
          </a:p>
          <a:p>
            <a:pPr>
              <a:spcAft>
                <a:spcPts val="800"/>
              </a:spcAft>
              <a:defRPr sz="1800">
                <a:solidFill>
                  <a:srgbClr val="1B1B1B"/>
                </a:solidFill>
                <a:latin typeface="Calibri"/>
              </a:defRPr>
            </a:pPr>
            <a:r>
              <a:t>•  Foreign keys enforce referential integrity</a:t>
            </a:r>
          </a:p>
          <a:p>
            <a:pPr>
              <a:spcAft>
                <a:spcPts val="800"/>
              </a:spcAft>
              <a:defRPr sz="1800">
                <a:solidFill>
                  <a:srgbClr val="1B1B1B"/>
                </a:solidFill>
                <a:latin typeface="Calibri"/>
              </a:defRPr>
            </a:pPr>
            <a:r>
              <a:t>•  CASCADE on updates, RESTRICT on deletes</a:t>
            </a:r>
          </a:p>
        </p:txBody>
      </p:sp>
      <p:pic>
        <p:nvPicPr>
          <p:cNvPr id="6" name="Picture 5" descr="08 ER diagram.png"/>
          <p:cNvPicPr>
            <a:picLocks noChangeAspect="1"/>
          </p:cNvPicPr>
          <p:nvPr/>
        </p:nvPicPr>
        <p:blipFill>
          <a:blip r:embed="rId2"/>
          <a:stretch>
            <a:fillRect/>
          </a:stretch>
        </p:blipFill>
        <p:spPr>
          <a:xfrm>
            <a:off x="6217920" y="1463040"/>
            <a:ext cx="5303520" cy="359441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914400"/>
          </a:xfrm>
          <a:prstGeom prst="rect">
            <a:avLst/>
          </a:prstGeom>
          <a:noFill/>
        </p:spPr>
        <p:txBody>
          <a:bodyPr wrap="square">
            <a:spAutoFit/>
          </a:bodyPr>
          <a:lstStyle/>
          <a:p>
            <a:pPr algn="l">
              <a:defRPr sz="1600" b="0">
                <a:solidFill>
                  <a:srgbClr val="52B788"/>
                </a:solidFill>
                <a:latin typeface="Calibri"/>
              </a:defRPr>
            </a:pPr>
            <a:r>
              <a:t>Section 3</a:t>
            </a:r>
          </a:p>
        </p:txBody>
      </p:sp>
      <p:sp>
        <p:nvSpPr>
          <p:cNvPr id="4" name="TextBox 3"/>
          <p:cNvSpPr txBox="1"/>
          <p:nvPr/>
        </p:nvSpPr>
        <p:spPr>
          <a:xfrm>
            <a:off x="731520" y="502920"/>
            <a:ext cx="10058400" cy="731520"/>
          </a:xfrm>
          <a:prstGeom prst="rect">
            <a:avLst/>
          </a:prstGeom>
          <a:noFill/>
        </p:spPr>
        <p:txBody>
          <a:bodyPr wrap="square">
            <a:spAutoFit/>
          </a:bodyPr>
          <a:lstStyle/>
          <a:p>
            <a:pPr algn="l">
              <a:defRPr sz="3600" b="1">
                <a:solidFill>
                  <a:srgbClr val="FFFFFF"/>
                </a:solidFill>
                <a:latin typeface="Calibri"/>
              </a:defRPr>
            </a:pPr>
            <a:r>
              <a:t>App Demo — Logging Waste</a:t>
            </a:r>
          </a:p>
        </p:txBody>
      </p:sp>
      <p:sp>
        <p:nvSpPr>
          <p:cNvPr id="5" name="TextBox 4"/>
          <p:cNvSpPr txBox="1"/>
          <p:nvPr/>
        </p:nvSpPr>
        <p:spPr>
          <a:xfrm>
            <a:off x="731520" y="1645920"/>
            <a:ext cx="5943600" cy="4114800"/>
          </a:xfrm>
          <a:prstGeom prst="rect">
            <a:avLst/>
          </a:prstGeom>
          <a:noFill/>
        </p:spPr>
        <p:txBody>
          <a:bodyPr wrap="square">
            <a:spAutoFit/>
          </a:bodyPr>
          <a:lstStyle/>
          <a:p>
            <a:pPr>
              <a:spcAft>
                <a:spcPts val="800"/>
              </a:spcAft>
              <a:defRPr sz="1800">
                <a:solidFill>
                  <a:srgbClr val="1B1B1B"/>
                </a:solidFill>
                <a:latin typeface="Calibri"/>
              </a:defRPr>
            </a:pPr>
            <a:r>
              <a:t>•  Select user, food item, waste reason from dropdowns</a:t>
            </a:r>
          </a:p>
          <a:p>
            <a:pPr>
              <a:spcAft>
                <a:spcPts val="800"/>
              </a:spcAft>
              <a:defRPr sz="1800">
                <a:solidFill>
                  <a:srgbClr val="1B1B1B"/>
                </a:solidFill>
                <a:latin typeface="Calibri"/>
              </a:defRPr>
            </a:pPr>
            <a:r>
              <a:t>•  Enter weight (kg) and date, then submit</a:t>
            </a:r>
          </a:p>
          <a:p>
            <a:pPr>
              <a:spcAft>
                <a:spcPts val="800"/>
              </a:spcAft>
              <a:defRPr sz="1800">
                <a:solidFill>
                  <a:srgbClr val="1B1B1B"/>
                </a:solidFill>
                <a:latin typeface="Calibri"/>
              </a:defRPr>
            </a:pPr>
            <a:r>
              <a:t>•  Runs INSERT into FoodWasteRecords</a:t>
            </a:r>
          </a:p>
          <a:p>
            <a:pPr>
              <a:spcAft>
                <a:spcPts val="800"/>
              </a:spcAft>
              <a:defRPr sz="1800">
                <a:solidFill>
                  <a:srgbClr val="1B1B1B"/>
                </a:solidFill>
                <a:latin typeface="Calibri"/>
              </a:defRPr>
            </a:pPr>
          </a:p>
          <a:p>
            <a:pPr>
              <a:spcAft>
                <a:spcPts val="800"/>
              </a:spcAft>
              <a:defRPr sz="1800">
                <a:solidFill>
                  <a:srgbClr val="1B1B1B"/>
                </a:solidFill>
                <a:latin typeface="Calibri"/>
              </a:defRPr>
            </a:pPr>
            <a:r>
              <a:t>•  Parameterized queries throughout (%s placeholders)</a:t>
            </a:r>
          </a:p>
          <a:p>
            <a:pPr>
              <a:spcAft>
                <a:spcPts val="800"/>
              </a:spcAft>
              <a:defRPr sz="1800">
                <a:solidFill>
                  <a:srgbClr val="1B1B1B"/>
                </a:solidFill>
                <a:latin typeface="Calibri"/>
              </a:defRPr>
            </a:pPr>
            <a:r>
              <a:t>   → prevents SQL injection attacks</a:t>
            </a:r>
          </a:p>
          <a:p>
            <a:pPr>
              <a:spcAft>
                <a:spcPts val="800"/>
              </a:spcAft>
              <a:defRPr sz="1800">
                <a:solidFill>
                  <a:srgbClr val="1B1B1B"/>
                </a:solidFill>
                <a:latin typeface="Calibri"/>
              </a:defRPr>
            </a:pPr>
            <a:r>
              <a:t>•  Dropdowns populated by SELECT with JOINs</a:t>
            </a:r>
          </a:p>
          <a:p>
            <a:pPr>
              <a:spcAft>
                <a:spcPts val="800"/>
              </a:spcAft>
              <a:defRPr sz="1800">
                <a:solidFill>
                  <a:srgbClr val="1B1B1B"/>
                </a:solidFill>
                <a:latin typeface="Calibri"/>
              </a:defRPr>
            </a:pPr>
            <a:r>
              <a:t>   (FoodItems + Categories)</a:t>
            </a:r>
          </a:p>
        </p:txBody>
      </p:sp>
      <p:pic>
        <p:nvPicPr>
          <p:cNvPr id="6" name="Picture 5" descr="02_log_waste.png"/>
          <p:cNvPicPr>
            <a:picLocks noChangeAspect="1"/>
          </p:cNvPicPr>
          <p:nvPr/>
        </p:nvPicPr>
        <p:blipFill>
          <a:blip r:embed="rId2"/>
          <a:stretch>
            <a:fillRect/>
          </a:stretch>
        </p:blipFill>
        <p:spPr>
          <a:xfrm>
            <a:off x="7132320" y="1645920"/>
            <a:ext cx="4389120" cy="30861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914400"/>
          </a:xfrm>
          <a:prstGeom prst="rect">
            <a:avLst/>
          </a:prstGeom>
          <a:noFill/>
        </p:spPr>
        <p:txBody>
          <a:bodyPr wrap="square">
            <a:spAutoFit/>
          </a:bodyPr>
          <a:lstStyle/>
          <a:p>
            <a:pPr algn="l">
              <a:defRPr sz="1600" b="0">
                <a:solidFill>
                  <a:srgbClr val="52B788"/>
                </a:solidFill>
                <a:latin typeface="Calibri"/>
              </a:defRPr>
            </a:pPr>
            <a:r>
              <a:t>Section 4</a:t>
            </a:r>
          </a:p>
        </p:txBody>
      </p:sp>
      <p:sp>
        <p:nvSpPr>
          <p:cNvPr id="4" name="TextBox 3"/>
          <p:cNvSpPr txBox="1"/>
          <p:nvPr/>
        </p:nvSpPr>
        <p:spPr>
          <a:xfrm>
            <a:off x="731520" y="502920"/>
            <a:ext cx="10058400" cy="731520"/>
          </a:xfrm>
          <a:prstGeom prst="rect">
            <a:avLst/>
          </a:prstGeom>
          <a:noFill/>
        </p:spPr>
        <p:txBody>
          <a:bodyPr wrap="square">
            <a:spAutoFit/>
          </a:bodyPr>
          <a:lstStyle/>
          <a:p>
            <a:pPr algn="l">
              <a:defRPr sz="3600" b="1">
                <a:solidFill>
                  <a:srgbClr val="FFFFFF"/>
                </a:solidFill>
                <a:latin typeface="Calibri"/>
              </a:defRPr>
            </a:pPr>
            <a:r>
              <a:t>App Demo — History &amp; Filtering</a:t>
            </a:r>
          </a:p>
        </p:txBody>
      </p:sp>
      <p:sp>
        <p:nvSpPr>
          <p:cNvPr id="5" name="TextBox 4"/>
          <p:cNvSpPr txBox="1"/>
          <p:nvPr/>
        </p:nvSpPr>
        <p:spPr>
          <a:xfrm>
            <a:off x="731520" y="1645920"/>
            <a:ext cx="5486400" cy="4114800"/>
          </a:xfrm>
          <a:prstGeom prst="rect">
            <a:avLst/>
          </a:prstGeom>
          <a:noFill/>
        </p:spPr>
        <p:txBody>
          <a:bodyPr wrap="square">
            <a:spAutoFit/>
          </a:bodyPr>
          <a:lstStyle/>
          <a:p>
            <a:pPr>
              <a:spcAft>
                <a:spcPts val="800"/>
              </a:spcAft>
              <a:defRPr sz="1800">
                <a:solidFill>
                  <a:srgbClr val="1B1B1B"/>
                </a:solidFill>
                <a:latin typeface="Calibri"/>
              </a:defRPr>
            </a:pPr>
            <a:r>
              <a:t>•  View full waste history: date, food, category,</a:t>
            </a:r>
          </a:p>
          <a:p>
            <a:pPr>
              <a:spcAft>
                <a:spcPts val="800"/>
              </a:spcAft>
              <a:defRPr sz="1800">
                <a:solidFill>
                  <a:srgbClr val="1B1B1B"/>
                </a:solidFill>
                <a:latin typeface="Calibri"/>
              </a:defRPr>
            </a:pPr>
            <a:r>
              <a:t>   reason, weight</a:t>
            </a:r>
          </a:p>
          <a:p>
            <a:pPr>
              <a:spcAft>
                <a:spcPts val="800"/>
              </a:spcAft>
              <a:defRPr sz="1800">
                <a:solidFill>
                  <a:srgbClr val="1B1B1B"/>
                </a:solidFill>
                <a:latin typeface="Calibri"/>
              </a:defRPr>
            </a:pPr>
            <a:r>
              <a:t>•  Filter by user, category, or date range</a:t>
            </a:r>
          </a:p>
          <a:p>
            <a:pPr>
              <a:spcAft>
                <a:spcPts val="800"/>
              </a:spcAft>
              <a:defRPr sz="1800">
                <a:solidFill>
                  <a:srgbClr val="1B1B1B"/>
                </a:solidFill>
                <a:latin typeface="Calibri"/>
              </a:defRPr>
            </a:pPr>
          </a:p>
          <a:p>
            <a:pPr>
              <a:spcAft>
                <a:spcPts val="800"/>
              </a:spcAft>
              <a:defRPr sz="1800">
                <a:solidFill>
                  <a:srgbClr val="1B1B1B"/>
                </a:solidFill>
                <a:latin typeface="Calibri"/>
              </a:defRPr>
            </a:pPr>
            <a:r>
              <a:t>•  Dynamic query builds WHERE clauses based on</a:t>
            </a:r>
          </a:p>
          <a:p>
            <a:pPr>
              <a:spcAft>
                <a:spcPts val="800"/>
              </a:spcAft>
              <a:defRPr sz="1800">
                <a:solidFill>
                  <a:srgbClr val="1B1B1B"/>
                </a:solidFill>
                <a:latin typeface="Calibri"/>
              </a:defRPr>
            </a:pPr>
            <a:r>
              <a:t>   active filters</a:t>
            </a:r>
          </a:p>
          <a:p>
            <a:pPr>
              <a:spcAft>
                <a:spcPts val="800"/>
              </a:spcAft>
              <a:defRPr sz="1800">
                <a:solidFill>
                  <a:srgbClr val="1B1B1B"/>
                </a:solidFill>
                <a:latin typeface="Calibri"/>
              </a:defRPr>
            </a:pPr>
            <a:r>
              <a:t>•  JOINs across 4 tables for complete details</a:t>
            </a:r>
          </a:p>
          <a:p>
            <a:pPr>
              <a:spcAft>
                <a:spcPts val="800"/>
              </a:spcAft>
              <a:defRPr sz="1800">
                <a:solidFill>
                  <a:srgbClr val="1B1B1B"/>
                </a:solidFill>
                <a:latin typeface="Calibri"/>
              </a:defRPr>
            </a:pPr>
            <a:r>
              <a:t>•  Edit weight or delete records inline</a:t>
            </a:r>
          </a:p>
          <a:p>
            <a:pPr>
              <a:spcAft>
                <a:spcPts val="800"/>
              </a:spcAft>
              <a:defRPr sz="1800">
                <a:solidFill>
                  <a:srgbClr val="1B1B1B"/>
                </a:solidFill>
                <a:latin typeface="Calibri"/>
              </a:defRPr>
            </a:pPr>
            <a:r>
              <a:t>   (UPDATE and DELETE operations)</a:t>
            </a:r>
          </a:p>
        </p:txBody>
      </p:sp>
      <p:pic>
        <p:nvPicPr>
          <p:cNvPr id="6" name="Picture 5" descr="03_history_all.png"/>
          <p:cNvPicPr>
            <a:picLocks noChangeAspect="1"/>
          </p:cNvPicPr>
          <p:nvPr/>
        </p:nvPicPr>
        <p:blipFill>
          <a:blip r:embed="rId2"/>
          <a:stretch>
            <a:fillRect/>
          </a:stretch>
        </p:blipFill>
        <p:spPr>
          <a:xfrm>
            <a:off x="6400800" y="1463040"/>
            <a:ext cx="2743200" cy="3041094"/>
          </a:xfrm>
          <a:prstGeom prst="rect">
            <a:avLst/>
          </a:prstGeom>
        </p:spPr>
      </p:pic>
      <p:pic>
        <p:nvPicPr>
          <p:cNvPr id="7" name="Picture 6" descr="04_history_filtered.png"/>
          <p:cNvPicPr>
            <a:picLocks noChangeAspect="1"/>
          </p:cNvPicPr>
          <p:nvPr/>
        </p:nvPicPr>
        <p:blipFill>
          <a:blip r:embed="rId3"/>
          <a:stretch>
            <a:fillRect/>
          </a:stretch>
        </p:blipFill>
        <p:spPr>
          <a:xfrm>
            <a:off x="9326880" y="1463040"/>
            <a:ext cx="2286000" cy="160734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914400"/>
          </a:xfrm>
          <a:prstGeom prst="rect">
            <a:avLst/>
          </a:prstGeom>
          <a:noFill/>
        </p:spPr>
        <p:txBody>
          <a:bodyPr wrap="square">
            <a:spAutoFit/>
          </a:bodyPr>
          <a:lstStyle/>
          <a:p>
            <a:pPr algn="l">
              <a:defRPr sz="1600" b="0">
                <a:solidFill>
                  <a:srgbClr val="52B788"/>
                </a:solidFill>
                <a:latin typeface="Calibri"/>
              </a:defRPr>
            </a:pPr>
            <a:r>
              <a:t>Section 5</a:t>
            </a:r>
          </a:p>
        </p:txBody>
      </p:sp>
      <p:sp>
        <p:nvSpPr>
          <p:cNvPr id="4" name="TextBox 3"/>
          <p:cNvSpPr txBox="1"/>
          <p:nvPr/>
        </p:nvSpPr>
        <p:spPr>
          <a:xfrm>
            <a:off x="731520" y="502920"/>
            <a:ext cx="10058400" cy="731520"/>
          </a:xfrm>
          <a:prstGeom prst="rect">
            <a:avLst/>
          </a:prstGeom>
          <a:noFill/>
        </p:spPr>
        <p:txBody>
          <a:bodyPr wrap="square">
            <a:spAutoFit/>
          </a:bodyPr>
          <a:lstStyle/>
          <a:p>
            <a:pPr algn="l">
              <a:defRPr sz="3600" b="1">
                <a:solidFill>
                  <a:srgbClr val="FFFFFF"/>
                </a:solidFill>
                <a:latin typeface="Calibri"/>
              </a:defRPr>
            </a:pPr>
            <a:r>
              <a:t>User &amp; Food Management</a:t>
            </a:r>
          </a:p>
        </p:txBody>
      </p:sp>
      <p:sp>
        <p:nvSpPr>
          <p:cNvPr id="5" name="TextBox 4"/>
          <p:cNvSpPr txBox="1"/>
          <p:nvPr/>
        </p:nvSpPr>
        <p:spPr>
          <a:xfrm>
            <a:off x="731520" y="1645920"/>
            <a:ext cx="4114800" cy="3657600"/>
          </a:xfrm>
          <a:prstGeom prst="rect">
            <a:avLst/>
          </a:prstGeom>
          <a:noFill/>
        </p:spPr>
        <p:txBody>
          <a:bodyPr wrap="square">
            <a:spAutoFit/>
          </a:bodyPr>
          <a:lstStyle/>
          <a:p>
            <a:pPr>
              <a:spcAft>
                <a:spcPts val="800"/>
              </a:spcAft>
              <a:defRPr sz="1800">
                <a:solidFill>
                  <a:srgbClr val="1B1B1B"/>
                </a:solidFill>
                <a:latin typeface="Calibri"/>
              </a:defRPr>
            </a:pPr>
            <a:r>
              <a:t>•  Register: enter name, email, phone</a:t>
            </a:r>
          </a:p>
          <a:p>
            <a:pPr>
              <a:spcAft>
                <a:spcPts val="800"/>
              </a:spcAft>
              <a:defRPr sz="1800">
                <a:solidFill>
                  <a:srgbClr val="1B1B1B"/>
                </a:solidFill>
                <a:latin typeface="Calibri"/>
              </a:defRPr>
            </a:pPr>
            <a:r>
              <a:t>•  Add food items and assign to categories</a:t>
            </a:r>
          </a:p>
          <a:p>
            <a:pPr>
              <a:spcAft>
                <a:spcPts val="800"/>
              </a:spcAft>
              <a:defRPr sz="1800">
                <a:solidFill>
                  <a:srgbClr val="1B1B1B"/>
                </a:solidFill>
                <a:latin typeface="Calibri"/>
              </a:defRPr>
            </a:pPr>
            <a:r>
              <a:t>•  Update user email from the Users page</a:t>
            </a:r>
          </a:p>
          <a:p>
            <a:pPr>
              <a:spcAft>
                <a:spcPts val="800"/>
              </a:spcAft>
              <a:defRPr sz="1800">
                <a:solidFill>
                  <a:srgbClr val="1B1B1B"/>
                </a:solidFill>
                <a:latin typeface="Calibri"/>
              </a:defRPr>
            </a:pPr>
          </a:p>
          <a:p>
            <a:pPr>
              <a:spcAft>
                <a:spcPts val="800"/>
              </a:spcAft>
              <a:defRPr sz="1800">
                <a:solidFill>
                  <a:srgbClr val="1B1B1B"/>
                </a:solidFill>
                <a:latin typeface="Calibri"/>
              </a:defRPr>
            </a:pPr>
            <a:r>
              <a:t>•  Full CRUD coverage across all main tables:</a:t>
            </a:r>
          </a:p>
          <a:p>
            <a:pPr>
              <a:spcAft>
                <a:spcPts val="800"/>
              </a:spcAft>
              <a:defRPr sz="1800">
                <a:solidFill>
                  <a:srgbClr val="1B1B1B"/>
                </a:solidFill>
                <a:latin typeface="Calibri"/>
              </a:defRPr>
            </a:pPr>
            <a:r>
              <a:t>   Create, Read, Update, Delete</a:t>
            </a:r>
          </a:p>
        </p:txBody>
      </p:sp>
      <p:pic>
        <p:nvPicPr>
          <p:cNvPr id="6" name="Picture 5" descr="05_register.png"/>
          <p:cNvPicPr>
            <a:picLocks noChangeAspect="1"/>
          </p:cNvPicPr>
          <p:nvPr/>
        </p:nvPicPr>
        <p:blipFill>
          <a:blip r:embed="rId2"/>
          <a:stretch>
            <a:fillRect/>
          </a:stretch>
        </p:blipFill>
        <p:spPr>
          <a:xfrm>
            <a:off x="5029200" y="1463040"/>
            <a:ext cx="2194560" cy="1543050"/>
          </a:xfrm>
          <a:prstGeom prst="rect">
            <a:avLst/>
          </a:prstGeom>
        </p:spPr>
      </p:pic>
      <p:pic>
        <p:nvPicPr>
          <p:cNvPr id="7" name="Picture 6" descr="06_add_food.png"/>
          <p:cNvPicPr>
            <a:picLocks noChangeAspect="1"/>
          </p:cNvPicPr>
          <p:nvPr/>
        </p:nvPicPr>
        <p:blipFill>
          <a:blip r:embed="rId3"/>
          <a:stretch>
            <a:fillRect/>
          </a:stretch>
        </p:blipFill>
        <p:spPr>
          <a:xfrm>
            <a:off x="7406640" y="1463040"/>
            <a:ext cx="2194560" cy="1543050"/>
          </a:xfrm>
          <a:prstGeom prst="rect">
            <a:avLst/>
          </a:prstGeom>
        </p:spPr>
      </p:pic>
      <p:pic>
        <p:nvPicPr>
          <p:cNvPr id="8" name="Picture 7" descr="07_users.png"/>
          <p:cNvPicPr>
            <a:picLocks noChangeAspect="1"/>
          </p:cNvPicPr>
          <p:nvPr/>
        </p:nvPicPr>
        <p:blipFill>
          <a:blip r:embed="rId4"/>
          <a:stretch>
            <a:fillRect/>
          </a:stretch>
        </p:blipFill>
        <p:spPr>
          <a:xfrm>
            <a:off x="9784080" y="1463040"/>
            <a:ext cx="2194560" cy="154305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914400"/>
          </a:xfrm>
          <a:prstGeom prst="rect">
            <a:avLst/>
          </a:prstGeom>
          <a:noFill/>
        </p:spPr>
        <p:txBody>
          <a:bodyPr wrap="square">
            <a:spAutoFit/>
          </a:bodyPr>
          <a:lstStyle/>
          <a:p>
            <a:pPr algn="l">
              <a:defRPr sz="1600" b="0">
                <a:solidFill>
                  <a:srgbClr val="52B788"/>
                </a:solidFill>
                <a:latin typeface="Calibri"/>
              </a:defRPr>
            </a:pPr>
            <a:r>
              <a:t>Section 6</a:t>
            </a:r>
          </a:p>
        </p:txBody>
      </p:sp>
      <p:sp>
        <p:nvSpPr>
          <p:cNvPr id="4" name="TextBox 3"/>
          <p:cNvSpPr txBox="1"/>
          <p:nvPr/>
        </p:nvSpPr>
        <p:spPr>
          <a:xfrm>
            <a:off x="731520" y="502920"/>
            <a:ext cx="10058400" cy="731520"/>
          </a:xfrm>
          <a:prstGeom prst="rect">
            <a:avLst/>
          </a:prstGeom>
          <a:noFill/>
        </p:spPr>
        <p:txBody>
          <a:bodyPr wrap="square">
            <a:spAutoFit/>
          </a:bodyPr>
          <a:lstStyle/>
          <a:p>
            <a:pPr algn="l">
              <a:defRPr sz="3600" b="1">
                <a:solidFill>
                  <a:srgbClr val="FFFFFF"/>
                </a:solidFill>
                <a:latin typeface="Calibri"/>
              </a:defRPr>
            </a:pPr>
            <a:r>
              <a:t>Analytics Dashboard</a:t>
            </a:r>
          </a:p>
        </p:txBody>
      </p:sp>
      <p:sp>
        <p:nvSpPr>
          <p:cNvPr id="5" name="TextBox 4"/>
          <p:cNvSpPr txBox="1"/>
          <p:nvPr/>
        </p:nvSpPr>
        <p:spPr>
          <a:xfrm>
            <a:off x="731520" y="1645920"/>
            <a:ext cx="5029200" cy="4572000"/>
          </a:xfrm>
          <a:prstGeom prst="rect">
            <a:avLst/>
          </a:prstGeom>
          <a:noFill/>
        </p:spPr>
        <p:txBody>
          <a:bodyPr wrap="square">
            <a:spAutoFit/>
          </a:bodyPr>
          <a:lstStyle/>
          <a:p>
            <a:pPr>
              <a:spcAft>
                <a:spcPts val="800"/>
              </a:spcAft>
              <a:defRPr sz="1700">
                <a:solidFill>
                  <a:srgbClr val="1B1B1B"/>
                </a:solidFill>
                <a:latin typeface="Calibri"/>
              </a:defRPr>
            </a:pPr>
            <a:r>
              <a:t>•  Waste by category (pie chart)</a:t>
            </a:r>
          </a:p>
          <a:p>
            <a:pPr>
              <a:spcAft>
                <a:spcPts val="800"/>
              </a:spcAft>
              <a:defRPr sz="1700">
                <a:solidFill>
                  <a:srgbClr val="1B1B1B"/>
                </a:solidFill>
                <a:latin typeface="Calibri"/>
              </a:defRPr>
            </a:pPr>
            <a:r>
              <a:t>•  Waste by reason (bar chart)</a:t>
            </a:r>
          </a:p>
          <a:p>
            <a:pPr>
              <a:spcAft>
                <a:spcPts val="800"/>
              </a:spcAft>
              <a:defRPr sz="1700">
                <a:solidFill>
                  <a:srgbClr val="1B1B1B"/>
                </a:solidFill>
                <a:latin typeface="Calibri"/>
              </a:defRPr>
            </a:pPr>
            <a:r>
              <a:t>•  Total waste per user</a:t>
            </a:r>
          </a:p>
          <a:p>
            <a:pPr>
              <a:spcAft>
                <a:spcPts val="800"/>
              </a:spcAft>
              <a:defRPr sz="1700">
                <a:solidFill>
                  <a:srgbClr val="1B1B1B"/>
                </a:solidFill>
                <a:latin typeface="Calibri"/>
              </a:defRPr>
            </a:pPr>
            <a:r>
              <a:t>•  Category breakdown table (% of total)</a:t>
            </a:r>
          </a:p>
          <a:p>
            <a:pPr>
              <a:spcAft>
                <a:spcPts val="800"/>
              </a:spcAft>
              <a:defRPr sz="1700">
                <a:solidFill>
                  <a:srgbClr val="1B1B1B"/>
                </a:solidFill>
                <a:latin typeface="Calibri"/>
              </a:defRPr>
            </a:pPr>
            <a:r>
              <a:t>•  Monthly trend chart</a:t>
            </a:r>
          </a:p>
          <a:p>
            <a:pPr>
              <a:spcAft>
                <a:spcPts val="800"/>
              </a:spcAft>
              <a:defRPr sz="1700">
                <a:solidFill>
                  <a:srgbClr val="1B1B1B"/>
                </a:solidFill>
                <a:latin typeface="Calibri"/>
              </a:defRPr>
            </a:pPr>
            <a:r>
              <a:t>•  Leaderboard: least to most wasteful</a:t>
            </a:r>
          </a:p>
          <a:p>
            <a:pPr>
              <a:spcAft>
                <a:spcPts val="800"/>
              </a:spcAft>
              <a:defRPr sz="1700">
                <a:solidFill>
                  <a:srgbClr val="1B1B1B"/>
                </a:solidFill>
                <a:latin typeface="Calibri"/>
              </a:defRPr>
            </a:pPr>
            <a:r>
              <a:t>•  Average waste per user per month</a:t>
            </a:r>
          </a:p>
          <a:p>
            <a:pPr>
              <a:spcAft>
                <a:spcPts val="800"/>
              </a:spcAft>
              <a:defRPr sz="1700">
                <a:solidFill>
                  <a:srgbClr val="1B1B1B"/>
                </a:solidFill>
                <a:latin typeface="Calibri"/>
              </a:defRPr>
            </a:pPr>
          </a:p>
          <a:p>
            <a:pPr>
              <a:spcAft>
                <a:spcPts val="800"/>
              </a:spcAft>
              <a:defRPr sz="1700">
                <a:solidFill>
                  <a:srgbClr val="1B1B1B"/>
                </a:solidFill>
                <a:latin typeface="Calibri"/>
              </a:defRPr>
            </a:pPr>
            <a:r>
              <a:t>•  All 7 analytics use GROUP BY + JOINs +</a:t>
            </a:r>
          </a:p>
          <a:p>
            <a:pPr>
              <a:spcAft>
                <a:spcPts val="800"/>
              </a:spcAft>
              <a:defRPr sz="1700">
                <a:solidFill>
                  <a:srgbClr val="1B1B1B"/>
                </a:solidFill>
                <a:latin typeface="Calibri"/>
              </a:defRPr>
            </a:pPr>
            <a:r>
              <a:t>   aggregate functions</a:t>
            </a:r>
          </a:p>
          <a:p>
            <a:pPr>
              <a:spcAft>
                <a:spcPts val="800"/>
              </a:spcAft>
              <a:defRPr sz="1700">
                <a:solidFill>
                  <a:srgbClr val="1B1B1B"/>
                </a:solidFill>
                <a:latin typeface="Calibri"/>
              </a:defRPr>
            </a:pPr>
            <a:r>
              <a:t>•  Subqueries for % calculations</a:t>
            </a:r>
          </a:p>
          <a:p>
            <a:pPr>
              <a:spcAft>
                <a:spcPts val="800"/>
              </a:spcAft>
              <a:defRPr sz="1700">
                <a:solidFill>
                  <a:srgbClr val="1B1B1B"/>
                </a:solidFill>
                <a:latin typeface="Calibri"/>
              </a:defRPr>
            </a:pPr>
            <a:r>
              <a:t>•  Derived tables for monthly averages</a:t>
            </a:r>
          </a:p>
        </p:txBody>
      </p:sp>
      <p:pic>
        <p:nvPicPr>
          <p:cNvPr id="6" name="Picture 5" descr="01_dashboard.png"/>
          <p:cNvPicPr>
            <a:picLocks noChangeAspect="1"/>
          </p:cNvPicPr>
          <p:nvPr/>
        </p:nvPicPr>
        <p:blipFill>
          <a:blip r:embed="rId2"/>
          <a:stretch>
            <a:fillRect/>
          </a:stretch>
        </p:blipFill>
        <p:spPr>
          <a:xfrm>
            <a:off x="6217920" y="1463040"/>
            <a:ext cx="5486400" cy="858964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914400"/>
          </a:xfrm>
          <a:prstGeom prst="rect">
            <a:avLst/>
          </a:prstGeom>
          <a:noFill/>
        </p:spPr>
        <p:txBody>
          <a:bodyPr wrap="square">
            <a:spAutoFit/>
          </a:bodyPr>
          <a:lstStyle/>
          <a:p>
            <a:pPr algn="l">
              <a:defRPr sz="1600" b="0">
                <a:solidFill>
                  <a:srgbClr val="52B788"/>
                </a:solidFill>
                <a:latin typeface="Calibri"/>
              </a:defRPr>
            </a:pPr>
            <a:r>
              <a:t>Section 6</a:t>
            </a:r>
          </a:p>
        </p:txBody>
      </p:sp>
      <p:sp>
        <p:nvSpPr>
          <p:cNvPr id="4" name="TextBox 3"/>
          <p:cNvSpPr txBox="1"/>
          <p:nvPr/>
        </p:nvSpPr>
        <p:spPr>
          <a:xfrm>
            <a:off x="731520" y="502920"/>
            <a:ext cx="10058400" cy="731520"/>
          </a:xfrm>
          <a:prstGeom prst="rect">
            <a:avLst/>
          </a:prstGeom>
          <a:noFill/>
        </p:spPr>
        <p:txBody>
          <a:bodyPr wrap="square">
            <a:spAutoFit/>
          </a:bodyPr>
          <a:lstStyle/>
          <a:p>
            <a:pPr algn="l">
              <a:defRPr sz="3600" b="1">
                <a:solidFill>
                  <a:srgbClr val="FFFFFF"/>
                </a:solidFill>
                <a:latin typeface="Calibri"/>
              </a:defRPr>
            </a:pPr>
            <a:r>
              <a:t>17 SQL Queries</a:t>
            </a:r>
          </a:p>
        </p:txBody>
      </p:sp>
      <p:sp>
        <p:nvSpPr>
          <p:cNvPr id="5" name="TextBox 4"/>
          <p:cNvSpPr txBox="1"/>
          <p:nvPr/>
        </p:nvSpPr>
        <p:spPr>
          <a:xfrm>
            <a:off x="731520" y="1645920"/>
            <a:ext cx="3474720" cy="457200"/>
          </a:xfrm>
          <a:prstGeom prst="rect">
            <a:avLst/>
          </a:prstGeom>
          <a:noFill/>
        </p:spPr>
        <p:txBody>
          <a:bodyPr wrap="square">
            <a:spAutoFit/>
          </a:bodyPr>
          <a:lstStyle/>
          <a:p>
            <a:pPr algn="l">
              <a:defRPr sz="2200" b="1">
                <a:solidFill>
                  <a:srgbClr val="2D6A4F"/>
                </a:solidFill>
                <a:latin typeface="Calibri"/>
              </a:defRPr>
            </a:pPr>
            <a:r>
              <a:t>6 CRUD Operations</a:t>
            </a:r>
          </a:p>
        </p:txBody>
      </p:sp>
      <p:sp>
        <p:nvSpPr>
          <p:cNvPr id="6" name="TextBox 5"/>
          <p:cNvSpPr txBox="1"/>
          <p:nvPr/>
        </p:nvSpPr>
        <p:spPr>
          <a:xfrm>
            <a:off x="731520" y="2286000"/>
            <a:ext cx="3474720" cy="3657600"/>
          </a:xfrm>
          <a:prstGeom prst="rect">
            <a:avLst/>
          </a:prstGeom>
          <a:noFill/>
        </p:spPr>
        <p:txBody>
          <a:bodyPr wrap="square">
            <a:spAutoFit/>
          </a:bodyPr>
          <a:lstStyle/>
          <a:p>
            <a:pPr>
              <a:spcAft>
                <a:spcPts val="800"/>
              </a:spcAft>
              <a:defRPr sz="1600">
                <a:solidFill>
                  <a:srgbClr val="1B1B1B"/>
                </a:solidFill>
                <a:latin typeface="Calibri"/>
              </a:defRPr>
            </a:pPr>
            <a:r>
              <a:t>•  INSERT waste records</a:t>
            </a:r>
          </a:p>
          <a:p>
            <a:pPr>
              <a:spcAft>
                <a:spcPts val="800"/>
              </a:spcAft>
              <a:defRPr sz="1600">
                <a:solidFill>
                  <a:srgbClr val="1B1B1B"/>
                </a:solidFill>
                <a:latin typeface="Calibri"/>
              </a:defRPr>
            </a:pPr>
            <a:r>
              <a:t>•  SELECT with filters</a:t>
            </a:r>
          </a:p>
          <a:p>
            <a:pPr>
              <a:spcAft>
                <a:spcPts val="800"/>
              </a:spcAft>
              <a:defRPr sz="1600">
                <a:solidFill>
                  <a:srgbClr val="1B1B1B"/>
                </a:solidFill>
                <a:latin typeface="Calibri"/>
              </a:defRPr>
            </a:pPr>
            <a:r>
              <a:t>•  UPDATE record weight</a:t>
            </a:r>
          </a:p>
          <a:p>
            <a:pPr>
              <a:spcAft>
                <a:spcPts val="800"/>
              </a:spcAft>
              <a:defRPr sz="1600">
                <a:solidFill>
                  <a:srgbClr val="1B1B1B"/>
                </a:solidFill>
                <a:latin typeface="Calibri"/>
              </a:defRPr>
            </a:pPr>
            <a:r>
              <a:t>•  DELETE records</a:t>
            </a:r>
          </a:p>
          <a:p>
            <a:pPr>
              <a:spcAft>
                <a:spcPts val="800"/>
              </a:spcAft>
              <a:defRPr sz="1600">
                <a:solidFill>
                  <a:srgbClr val="1B1B1B"/>
                </a:solidFill>
                <a:latin typeface="Calibri"/>
              </a:defRPr>
            </a:pPr>
            <a:r>
              <a:t>•  INSERT/UPDATE users</a:t>
            </a:r>
          </a:p>
          <a:p>
            <a:pPr>
              <a:spcAft>
                <a:spcPts val="800"/>
              </a:spcAft>
              <a:defRPr sz="1600">
                <a:solidFill>
                  <a:srgbClr val="1B1B1B"/>
                </a:solidFill>
                <a:latin typeface="Calibri"/>
              </a:defRPr>
            </a:pPr>
            <a:r>
              <a:t>•  INSERT food items</a:t>
            </a:r>
          </a:p>
        </p:txBody>
      </p:sp>
      <p:sp>
        <p:nvSpPr>
          <p:cNvPr id="7" name="TextBox 6"/>
          <p:cNvSpPr txBox="1"/>
          <p:nvPr/>
        </p:nvSpPr>
        <p:spPr>
          <a:xfrm>
            <a:off x="4572000" y="1645920"/>
            <a:ext cx="3474720" cy="457200"/>
          </a:xfrm>
          <a:prstGeom prst="rect">
            <a:avLst/>
          </a:prstGeom>
          <a:noFill/>
        </p:spPr>
        <p:txBody>
          <a:bodyPr wrap="square">
            <a:spAutoFit/>
          </a:bodyPr>
          <a:lstStyle/>
          <a:p>
            <a:pPr algn="l">
              <a:defRPr sz="2200" b="1">
                <a:solidFill>
                  <a:srgbClr val="2D6A4F"/>
                </a:solidFill>
                <a:latin typeface="Calibri"/>
              </a:defRPr>
            </a:pPr>
            <a:r>
              <a:t>4 History &amp; Filtering</a:t>
            </a:r>
          </a:p>
        </p:txBody>
      </p:sp>
      <p:sp>
        <p:nvSpPr>
          <p:cNvPr id="8" name="TextBox 7"/>
          <p:cNvSpPr txBox="1"/>
          <p:nvPr/>
        </p:nvSpPr>
        <p:spPr>
          <a:xfrm>
            <a:off x="4572000" y="2286000"/>
            <a:ext cx="3474720" cy="3657600"/>
          </a:xfrm>
          <a:prstGeom prst="rect">
            <a:avLst/>
          </a:prstGeom>
          <a:noFill/>
        </p:spPr>
        <p:txBody>
          <a:bodyPr wrap="square">
            <a:spAutoFit/>
          </a:bodyPr>
          <a:lstStyle/>
          <a:p>
            <a:pPr>
              <a:spcAft>
                <a:spcPts val="800"/>
              </a:spcAft>
              <a:defRPr sz="1600">
                <a:solidFill>
                  <a:srgbClr val="1B1B1B"/>
                </a:solidFill>
                <a:latin typeface="Calibri"/>
              </a:defRPr>
            </a:pPr>
            <a:r>
              <a:t>•  Full history with JOINs</a:t>
            </a:r>
          </a:p>
          <a:p>
            <a:pPr>
              <a:spcAft>
                <a:spcPts val="800"/>
              </a:spcAft>
              <a:defRPr sz="1600">
                <a:solidFill>
                  <a:srgbClr val="1B1B1B"/>
                </a:solidFill>
                <a:latin typeface="Calibri"/>
              </a:defRPr>
            </a:pPr>
            <a:r>
              <a:t>•  Filter by user</a:t>
            </a:r>
          </a:p>
          <a:p>
            <a:pPr>
              <a:spcAft>
                <a:spcPts val="800"/>
              </a:spcAft>
              <a:defRPr sz="1600">
                <a:solidFill>
                  <a:srgbClr val="1B1B1B"/>
                </a:solidFill>
                <a:latin typeface="Calibri"/>
              </a:defRPr>
            </a:pPr>
            <a:r>
              <a:t>•  Filter by category</a:t>
            </a:r>
          </a:p>
          <a:p>
            <a:pPr>
              <a:spcAft>
                <a:spcPts val="800"/>
              </a:spcAft>
              <a:defRPr sz="1600">
                <a:solidFill>
                  <a:srgbClr val="1B1B1B"/>
                </a:solidFill>
                <a:latin typeface="Calibri"/>
              </a:defRPr>
            </a:pPr>
            <a:r>
              <a:t>•  Filter by date range</a:t>
            </a:r>
          </a:p>
        </p:txBody>
      </p:sp>
      <p:sp>
        <p:nvSpPr>
          <p:cNvPr id="9" name="TextBox 8"/>
          <p:cNvSpPr txBox="1"/>
          <p:nvPr/>
        </p:nvSpPr>
        <p:spPr>
          <a:xfrm>
            <a:off x="8412480" y="1645920"/>
            <a:ext cx="3474720" cy="457200"/>
          </a:xfrm>
          <a:prstGeom prst="rect">
            <a:avLst/>
          </a:prstGeom>
          <a:noFill/>
        </p:spPr>
        <p:txBody>
          <a:bodyPr wrap="square">
            <a:spAutoFit/>
          </a:bodyPr>
          <a:lstStyle/>
          <a:p>
            <a:pPr algn="l">
              <a:defRPr sz="2200" b="1">
                <a:solidFill>
                  <a:srgbClr val="2D6A4F"/>
                </a:solidFill>
                <a:latin typeface="Calibri"/>
              </a:defRPr>
            </a:pPr>
            <a:r>
              <a:t>7 Analytics Queries</a:t>
            </a:r>
          </a:p>
        </p:txBody>
      </p:sp>
      <p:sp>
        <p:nvSpPr>
          <p:cNvPr id="10" name="TextBox 9"/>
          <p:cNvSpPr txBox="1"/>
          <p:nvPr/>
        </p:nvSpPr>
        <p:spPr>
          <a:xfrm>
            <a:off x="8412480" y="2286000"/>
            <a:ext cx="3474720" cy="3657600"/>
          </a:xfrm>
          <a:prstGeom prst="rect">
            <a:avLst/>
          </a:prstGeom>
          <a:noFill/>
        </p:spPr>
        <p:txBody>
          <a:bodyPr wrap="square">
            <a:spAutoFit/>
          </a:bodyPr>
          <a:lstStyle/>
          <a:p>
            <a:pPr>
              <a:spcAft>
                <a:spcPts val="800"/>
              </a:spcAft>
              <a:defRPr sz="1600">
                <a:solidFill>
                  <a:srgbClr val="1B1B1B"/>
                </a:solidFill>
                <a:latin typeface="Calibri"/>
              </a:defRPr>
            </a:pPr>
            <a:r>
              <a:t>•  Waste by category</a:t>
            </a:r>
          </a:p>
          <a:p>
            <a:pPr>
              <a:spcAft>
                <a:spcPts val="800"/>
              </a:spcAft>
              <a:defRPr sz="1600">
                <a:solidFill>
                  <a:srgbClr val="1B1B1B"/>
                </a:solidFill>
                <a:latin typeface="Calibri"/>
              </a:defRPr>
            </a:pPr>
            <a:r>
              <a:t>•  Waste by reason</a:t>
            </a:r>
          </a:p>
          <a:p>
            <a:pPr>
              <a:spcAft>
                <a:spcPts val="800"/>
              </a:spcAft>
              <a:defRPr sz="1600">
                <a:solidFill>
                  <a:srgbClr val="1B1B1B"/>
                </a:solidFill>
                <a:latin typeface="Calibri"/>
              </a:defRPr>
            </a:pPr>
            <a:r>
              <a:t>•  Total per user</a:t>
            </a:r>
          </a:p>
          <a:p>
            <a:pPr>
              <a:spcAft>
                <a:spcPts val="800"/>
              </a:spcAft>
              <a:defRPr sz="1600">
                <a:solidFill>
                  <a:srgbClr val="1B1B1B"/>
                </a:solidFill>
                <a:latin typeface="Calibri"/>
              </a:defRPr>
            </a:pPr>
            <a:r>
              <a:t>•  Category % (subquery)</a:t>
            </a:r>
          </a:p>
          <a:p>
            <a:pPr>
              <a:spcAft>
                <a:spcPts val="800"/>
              </a:spcAft>
              <a:defRPr sz="1600">
                <a:solidFill>
                  <a:srgbClr val="1B1B1B"/>
                </a:solidFill>
                <a:latin typeface="Calibri"/>
              </a:defRPr>
            </a:pPr>
            <a:r>
              <a:t>•  Monthly trends</a:t>
            </a:r>
          </a:p>
          <a:p>
            <a:pPr>
              <a:spcAft>
                <a:spcPts val="800"/>
              </a:spcAft>
              <a:defRPr sz="1600">
                <a:solidFill>
                  <a:srgbClr val="1B1B1B"/>
                </a:solidFill>
                <a:latin typeface="Calibri"/>
              </a:defRPr>
            </a:pPr>
            <a:r>
              <a:t>•  User leaderboard</a:t>
            </a:r>
          </a:p>
          <a:p>
            <a:pPr>
              <a:spcAft>
                <a:spcPts val="800"/>
              </a:spcAft>
              <a:defRPr sz="1600">
                <a:solidFill>
                  <a:srgbClr val="1B1B1B"/>
                </a:solidFill>
                <a:latin typeface="Calibri"/>
              </a:defRPr>
            </a:pPr>
            <a:r>
              <a:t>•  Avg waste/user/month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914400"/>
          </a:xfrm>
          <a:prstGeom prst="rect">
            <a:avLst/>
          </a:prstGeom>
          <a:noFill/>
        </p:spPr>
        <p:txBody>
          <a:bodyPr wrap="square">
            <a:spAutoFit/>
          </a:bodyPr>
          <a:lstStyle/>
          <a:p>
            <a:pPr algn="l">
              <a:defRPr sz="1600" b="0">
                <a:solidFill>
                  <a:srgbClr val="52B788"/>
                </a:solidFill>
                <a:latin typeface="Calibri"/>
              </a:defRPr>
            </a:pPr>
            <a:r>
              <a:t>Section 7</a:t>
            </a:r>
          </a:p>
        </p:txBody>
      </p:sp>
      <p:sp>
        <p:nvSpPr>
          <p:cNvPr id="4" name="TextBox 3"/>
          <p:cNvSpPr txBox="1"/>
          <p:nvPr/>
        </p:nvSpPr>
        <p:spPr>
          <a:xfrm>
            <a:off x="731520" y="502920"/>
            <a:ext cx="10058400" cy="731520"/>
          </a:xfrm>
          <a:prstGeom prst="rect">
            <a:avLst/>
          </a:prstGeom>
          <a:noFill/>
        </p:spPr>
        <p:txBody>
          <a:bodyPr wrap="square">
            <a:spAutoFit/>
          </a:bodyPr>
          <a:lstStyle/>
          <a:p>
            <a:pPr algn="l">
              <a:defRPr sz="3600" b="1">
                <a:solidFill>
                  <a:srgbClr val="FFFFFF"/>
                </a:solidFill>
                <a:latin typeface="Calibri"/>
              </a:defRPr>
            </a:pPr>
            <a:r>
              <a:t>Conclusion &amp; Key Findings</a:t>
            </a:r>
          </a:p>
        </p:txBody>
      </p:sp>
      <p:sp>
        <p:nvSpPr>
          <p:cNvPr id="5" name="TextBox 4"/>
          <p:cNvSpPr txBox="1"/>
          <p:nvPr/>
        </p:nvSpPr>
        <p:spPr>
          <a:xfrm>
            <a:off x="731520" y="1645920"/>
            <a:ext cx="6400800" cy="4572000"/>
          </a:xfrm>
          <a:prstGeom prst="rect">
            <a:avLst/>
          </a:prstGeom>
          <a:noFill/>
        </p:spPr>
        <p:txBody>
          <a:bodyPr wrap="square">
            <a:spAutoFit/>
          </a:bodyPr>
          <a:lstStyle/>
          <a:p>
            <a:pPr>
              <a:spcAft>
                <a:spcPts val="800"/>
              </a:spcAft>
              <a:defRPr sz="2000">
                <a:solidFill>
                  <a:srgbClr val="1B1B1B"/>
                </a:solidFill>
                <a:latin typeface="Calibri"/>
              </a:defRPr>
            </a:pPr>
            <a:r>
              <a:t>•  Full-stack database app: 5 normalized tables,</a:t>
            </a:r>
          </a:p>
          <a:p>
            <a:pPr>
              <a:spcAft>
                <a:spcPts val="800"/>
              </a:spcAft>
              <a:defRPr sz="2000">
                <a:solidFill>
                  <a:srgbClr val="1B1B1B"/>
                </a:solidFill>
                <a:latin typeface="Calibri"/>
              </a:defRPr>
            </a:pPr>
            <a:r>
              <a:t>   17 SQL queries, complete web interface</a:t>
            </a:r>
          </a:p>
          <a:p>
            <a:pPr>
              <a:spcAft>
                <a:spcPts val="800"/>
              </a:spcAft>
              <a:defRPr sz="2000">
                <a:solidFill>
                  <a:srgbClr val="1B1B1B"/>
                </a:solidFill>
                <a:latin typeface="Calibri"/>
              </a:defRPr>
            </a:pPr>
          </a:p>
          <a:p>
            <a:pPr>
              <a:spcAft>
                <a:spcPts val="800"/>
              </a:spcAft>
              <a:defRPr sz="2000">
                <a:solidFill>
                  <a:srgbClr val="1B1B1B"/>
                </a:solidFill>
                <a:latin typeface="Calibri"/>
              </a:defRPr>
            </a:pPr>
            <a:r>
              <a:t>•  Key findings from the data:</a:t>
            </a:r>
          </a:p>
          <a:p>
            <a:pPr>
              <a:spcAft>
                <a:spcPts val="800"/>
              </a:spcAft>
              <a:defRPr sz="2000">
                <a:solidFill>
                  <a:srgbClr val="1B1B1B"/>
                </a:solidFill>
                <a:latin typeface="Calibri"/>
              </a:defRPr>
            </a:pPr>
            <a:r>
              <a:t>   →  "Made too much" and "Expired" are top waste reasons</a:t>
            </a:r>
          </a:p>
          <a:p>
            <a:pPr>
              <a:spcAft>
                <a:spcPts val="800"/>
              </a:spcAft>
              <a:defRPr sz="2000">
                <a:solidFill>
                  <a:srgbClr val="1B1B1B"/>
                </a:solidFill>
                <a:latin typeface="Calibri"/>
              </a:defRPr>
            </a:pPr>
            <a:r>
              <a:t>   →  Prepared Food is the most wasted category</a:t>
            </a:r>
          </a:p>
          <a:p>
            <a:pPr>
              <a:spcAft>
                <a:spcPts val="800"/>
              </a:spcAft>
              <a:defRPr sz="2000">
                <a:solidFill>
                  <a:srgbClr val="1B1B1B"/>
                </a:solidFill>
                <a:latin typeface="Calibri"/>
              </a:defRPr>
            </a:pPr>
            <a:r>
              <a:t>   →  Big variation across users → personalized</a:t>
            </a:r>
          </a:p>
          <a:p>
            <a:pPr>
              <a:spcAft>
                <a:spcPts val="800"/>
              </a:spcAft>
              <a:defRPr sz="2000">
                <a:solidFill>
                  <a:srgbClr val="1B1B1B"/>
                </a:solidFill>
                <a:latin typeface="Calibri"/>
              </a:defRPr>
            </a:pPr>
            <a:r>
              <a:t>      nudges &gt; generic advice</a:t>
            </a:r>
          </a:p>
          <a:p>
            <a:pPr>
              <a:spcAft>
                <a:spcPts val="800"/>
              </a:spcAft>
              <a:defRPr sz="2000">
                <a:solidFill>
                  <a:srgbClr val="1B1B1B"/>
                </a:solidFill>
                <a:latin typeface="Calibri"/>
              </a:defRPr>
            </a:pPr>
          </a:p>
          <a:p>
            <a:pPr>
              <a:spcAft>
                <a:spcPts val="800"/>
              </a:spcAft>
              <a:defRPr sz="2000">
                <a:solidFill>
                  <a:srgbClr val="1B1B1B"/>
                </a:solidFill>
                <a:latin typeface="Calibri"/>
              </a:defRPr>
            </a:pPr>
            <a:r>
              <a:t>•  Potential extensions: portion-size suggestions,</a:t>
            </a:r>
          </a:p>
          <a:p>
            <a:pPr>
              <a:spcAft>
                <a:spcPts val="800"/>
              </a:spcAft>
              <a:defRPr sz="2000">
                <a:solidFill>
                  <a:srgbClr val="1B1B1B"/>
                </a:solidFill>
                <a:latin typeface="Calibri"/>
              </a:defRPr>
            </a:pPr>
            <a:r>
              <a:t>   expiration reminders based on user history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058400" cy="1371600"/>
          </a:xfrm>
          <a:prstGeom prst="rect">
            <a:avLst/>
          </a:prstGeom>
          <a:noFill/>
        </p:spPr>
        <p:txBody>
          <a:bodyPr wrap="square">
            <a:spAutoFit/>
          </a:bodyPr>
          <a:lstStyle/>
          <a:p>
            <a:pPr algn="ctr">
              <a:defRPr sz="5400" b="1">
                <a:solidFill>
                  <a:srgbClr val="FFFFFF"/>
                </a:solidFill>
                <a:latin typeface="Calibri"/>
              </a:defRPr>
            </a:pPr>
            <a:r>
              <a:t>Thank You!</a:t>
            </a:r>
          </a:p>
        </p:txBody>
      </p:sp>
      <p:sp>
        <p:nvSpPr>
          <p:cNvPr id="3" name="TextBox 2"/>
          <p:cNvSpPr txBox="1"/>
          <p:nvPr/>
        </p:nvSpPr>
        <p:spPr>
          <a:xfrm>
            <a:off x="914400" y="3474720"/>
            <a:ext cx="10058400" cy="731520"/>
          </a:xfrm>
          <a:prstGeom prst="rect">
            <a:avLst/>
          </a:prstGeom>
          <a:noFill/>
        </p:spPr>
        <p:txBody>
          <a:bodyPr wrap="square">
            <a:spAutoFit/>
          </a:bodyPr>
          <a:lstStyle/>
          <a:p>
            <a:pPr algn="ctr">
              <a:defRPr sz="3200" b="0">
                <a:solidFill>
                  <a:srgbClr val="52B788"/>
                </a:solidFill>
                <a:latin typeface="Calibri"/>
              </a:defRPr>
            </a:pPr>
            <a:r>
              <a:t>Questions?</a:t>
            </a:r>
          </a:p>
        </p:txBody>
      </p:sp>
      <p:sp>
        <p:nvSpPr>
          <p:cNvPr id="4" name="TextBox 3"/>
          <p:cNvSpPr txBox="1"/>
          <p:nvPr/>
        </p:nvSpPr>
        <p:spPr>
          <a:xfrm>
            <a:off x="914400" y="4754880"/>
            <a:ext cx="10058400" cy="548640"/>
          </a:xfrm>
          <a:prstGeom prst="rect">
            <a:avLst/>
          </a:prstGeom>
          <a:noFill/>
        </p:spPr>
        <p:txBody>
          <a:bodyPr wrap="square">
            <a:spAutoFit/>
          </a:bodyPr>
          <a:lstStyle/>
          <a:p>
            <a:pPr algn="ctr">
              <a:defRPr sz="2000" b="0">
                <a:solidFill>
                  <a:srgbClr val="FFFFFF"/>
                </a:solidFill>
                <a:latin typeface="Calibri"/>
              </a:defRPr>
            </a:pPr>
            <a:r>
              <a:t>Group 18  •  CS3200 Database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